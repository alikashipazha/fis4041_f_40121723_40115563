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ITC Avant Garde Gothic" charset="1" panose="020B0502020202020204"/>
      <p:regular r:id="rId21"/>
    </p:embeddedFont>
    <p:embeddedFont>
      <p:font typeface="TT Fors" charset="1" panose="020B0003030001020000"/>
      <p:regular r:id="rId22"/>
    </p:embeddedFont>
    <p:embeddedFont>
      <p:font typeface="Canva Sans Bold" charset="1" panose="020B0803030501040103"/>
      <p:regular r:id="rId23"/>
    </p:embeddedFont>
    <p:embeddedFont>
      <p:font typeface="Canva Sans" charset="1" panose="020B0503030501040103"/>
      <p:regular r:id="rId24"/>
    </p:embeddedFont>
    <p:embeddedFont>
      <p:font typeface="TT Fors Bold" charset="1" panose="020B0003030001020000"/>
      <p:regular r:id="rId25"/>
    </p:embeddedFont>
    <p:embeddedFont>
      <p:font typeface="TT Fors Italics" charset="1" panose="020B000303000102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26" r="0" b="-1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3682999"/>
            <a:chOff x="0" y="0"/>
            <a:chExt cx="13017500" cy="49106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84275"/>
              <a:ext cx="13017500" cy="3726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299">
                  <a:solidFill>
                    <a:srgbClr val="D0D8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Telco Customer Churn Prediction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04775"/>
              <a:ext cx="130175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4F7DC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TELCO INNOVATIONS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3474" y="8724265"/>
            <a:ext cx="7194651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D0D8E6"/>
                </a:solidFill>
                <a:latin typeface="TT Fors"/>
                <a:ea typeface="TT Fors"/>
                <a:cs typeface="TT Fors"/>
                <a:sym typeface="TT Fors"/>
              </a:rPr>
              <a:t>Presented by HamidReza Eslami and Ali Kashipazha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44829" y="782955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2162175"/>
            <a:chOff x="0" y="0"/>
            <a:chExt cx="14935200" cy="2882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D0D8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The Churn Challenge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352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D0D8E6"/>
                  </a:solidFill>
                  <a:latin typeface="TT Fors"/>
                  <a:ea typeface="TT Fors"/>
                  <a:cs typeface="TT Fors"/>
                  <a:sym typeface="TT Fors"/>
                </a:rPr>
                <a:t>Understanding Revenue Risks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45108" y="3797429"/>
            <a:ext cx="18042892" cy="447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D0D8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Definition</a:t>
            </a:r>
            <a:r>
              <a:rPr lang="en-US" sz="3199">
                <a:solidFill>
                  <a:srgbClr val="D0D8E6"/>
                </a:solidFill>
                <a:latin typeface="Canva Sans"/>
                <a:ea typeface="Canva Sans"/>
                <a:cs typeface="Canva Sans"/>
                <a:sym typeface="Canva Sans"/>
              </a:rPr>
              <a:t>: Customer churn represents the phenomenon where customers discontinue a service.</a:t>
            </a:r>
          </a:p>
          <a:p>
            <a:pPr algn="l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D0D8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Impact</a:t>
            </a:r>
            <a:r>
              <a:rPr lang="en-US" sz="3199">
                <a:solidFill>
                  <a:srgbClr val="D0D8E6"/>
                </a:solidFill>
                <a:latin typeface="Canva Sans"/>
                <a:ea typeface="Canva Sans"/>
                <a:cs typeface="Canva Sans"/>
                <a:sym typeface="Canva Sans"/>
              </a:rPr>
              <a:t>: In the highly competitive telecommunications market, churn directly threatens revenue and long-term sustainability.</a:t>
            </a:r>
          </a:p>
          <a:p>
            <a:pPr algn="l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D0D8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Goal</a:t>
            </a:r>
            <a:r>
              <a:rPr lang="en-US" sz="3199">
                <a:solidFill>
                  <a:srgbClr val="D0D8E6"/>
                </a:solidFill>
                <a:latin typeface="Canva Sans"/>
                <a:ea typeface="Canva Sans"/>
                <a:cs typeface="Canva Sans"/>
                <a:sym typeface="Canva Sans"/>
              </a:rPr>
              <a:t>: The project aim is to design an intelligent system to identify at-risk customers before they leave, enabling proactive retention.</a:t>
            </a:r>
          </a:p>
          <a:p>
            <a:pPr algn="just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b="true" sz="3199">
                <a:solidFill>
                  <a:srgbClr val="D0D8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Economic Strategy</a:t>
            </a:r>
            <a:r>
              <a:rPr lang="en-US" sz="3199">
                <a:solidFill>
                  <a:srgbClr val="D0D8E6"/>
                </a:solidFill>
                <a:latin typeface="Canva Sans"/>
                <a:ea typeface="Canva Sans"/>
                <a:cs typeface="Canva Sans"/>
                <a:sym typeface="Canva Sans"/>
              </a:rPr>
              <a:t>: Retaining an existing customer is significantly more cost-effective than the high cost of acquiring a new one.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B2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37106"/>
            <a:ext cx="4696295" cy="1652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83"/>
              </a:lnSpc>
            </a:pPr>
            <a:r>
              <a:rPr lang="en-US" sz="970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746135"/>
            <a:ext cx="6170997" cy="48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sz="3199" spc="-95" strike="noStrike" u="none">
                <a:solidFill>
                  <a:srgbClr val="D0D8E6"/>
                </a:solidFill>
                <a:latin typeface="TT Fors"/>
                <a:ea typeface="TT Fors"/>
                <a:cs typeface="TT Fors"/>
                <a:sym typeface="TT Fors"/>
              </a:rPr>
              <a:t>Data Characteristics and Structure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3888" y="7200952"/>
            <a:ext cx="10100075" cy="278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Composition</a:t>
            </a: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The Telco Customer Churn dataset includes a mix of numerical and categorical variables describing customer behavior.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Variable Types</a:t>
            </a: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Initial exploration identified 33 attributes, including integers, floating-point values, and categorical strings.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Target Variable</a:t>
            </a: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The core focus is the binary "Churn Value," indicating whether a customer has discontinued the service.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23963" y="1938913"/>
            <a:ext cx="7864037" cy="4995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4"/>
              </a:lnSpc>
            </a:pPr>
            <a:r>
              <a:rPr lang="en-US" sz="31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Dataset Summary:</a:t>
            </a:r>
          </a:p>
          <a:p>
            <a:pPr algn="ctr" marL="0" indent="0" lvl="0">
              <a:lnSpc>
                <a:spcPts val="4474"/>
              </a:lnSpc>
            </a:pPr>
          </a:p>
          <a:p>
            <a:pPr algn="l" marL="668418" indent="-334209" lvl="1">
              <a:lnSpc>
                <a:spcPts val="4334"/>
              </a:lnSpc>
              <a:buFont typeface="Arial"/>
              <a:buChar char="•"/>
            </a:pPr>
            <a:r>
              <a:rPr lang="en-US" b="true" sz="30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Samples</a:t>
            </a:r>
            <a:r>
              <a:rPr lang="en-US" sz="30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7,043 customer records.</a:t>
            </a:r>
          </a:p>
          <a:p>
            <a:pPr algn="l" marL="690008" indent="-345004" lvl="1">
              <a:lnSpc>
                <a:spcPts val="4474"/>
              </a:lnSpc>
              <a:buFont typeface="Arial"/>
              <a:buChar char="•"/>
            </a:pPr>
            <a:r>
              <a:rPr lang="en-US" b="true" sz="31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Original Features</a:t>
            </a:r>
            <a:r>
              <a:rPr lang="en-US" sz="31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33 attributes covering demographics, service usage, and billing.</a:t>
            </a:r>
          </a:p>
          <a:p>
            <a:pPr algn="l" marL="690008" indent="-345004" lvl="1">
              <a:lnSpc>
                <a:spcPts val="4474"/>
              </a:lnSpc>
              <a:buFont typeface="Arial"/>
              <a:buChar char="•"/>
            </a:pPr>
            <a:r>
              <a:rPr lang="en-US" b="true" sz="31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Distribution</a:t>
            </a:r>
            <a:r>
              <a:rPr lang="en-US" sz="31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73.46% Non-Churn vs. 26.54% Churn.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2162175"/>
            <a:chOff x="0" y="0"/>
            <a:chExt cx="14935200" cy="2882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D0D8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Data Integrity Measures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352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4F7DC1"/>
                  </a:solidFill>
                  <a:latin typeface="TT Fors"/>
                  <a:ea typeface="TT Fors"/>
                  <a:cs typeface="TT Fors"/>
                  <a:sym typeface="TT Fors"/>
                </a:rPr>
                <a:t>Ensuring Quality and Accuracy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0" y="3508693"/>
            <a:ext cx="18288000" cy="512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Leakage Prevention:</a:t>
            </a: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Removed variables containing post-hoc information—such as Churn Label, Churn Score, CLTV, and Churn Reason—to prevent the model from using target-derived data.</a:t>
            </a:r>
          </a:p>
          <a:p>
            <a:pPr algn="l">
              <a:lnSpc>
                <a:spcPts val="4060"/>
              </a:lnSpc>
            </a:pP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Noise Reduction</a:t>
            </a: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Eliminated non-informative features like CustomerID, City, and Zip Code that encourage memorization over generalization.</a:t>
            </a:r>
          </a:p>
          <a:p>
            <a:pPr algn="l">
              <a:lnSpc>
                <a:spcPts val="4060"/>
              </a:lnSpc>
            </a:pP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 Cleaning</a:t>
            </a: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Converted Total Charges to a numerical type and logically filled missing values for new customers with zero tenure.</a:t>
            </a:r>
          </a:p>
          <a:p>
            <a:pPr algn="l">
              <a:lnSpc>
                <a:spcPts val="4060"/>
              </a:lnSpc>
            </a:pP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Goal</a:t>
            </a: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Ensured the pipeline extracts true behavioral signals rather than accidental correlations.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3171825"/>
            <a:chOff x="0" y="0"/>
            <a:chExt cx="14935200" cy="42291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D0D8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Feature Engineering Techniques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5814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4F7DC1"/>
                  </a:solidFill>
                  <a:latin typeface="TT Fors"/>
                  <a:ea typeface="TT Fors"/>
                  <a:cs typeface="TT Fors"/>
                  <a:sym typeface="TT Fors"/>
                </a:rPr>
                <a:t>Crafting Key Predictive Features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0" y="4507230"/>
            <a:ext cx="18288000" cy="475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Average Monthly Charges: Computed to establish a long-term historical baseline of customer spending habits.</a:t>
            </a:r>
          </a:p>
          <a:p>
            <a:pPr algn="l">
              <a:lnSpc>
                <a:spcPts val="3780"/>
              </a:lnSpc>
            </a:pP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Charge Difference Ratio: Defined to identify recent cost increases.</a:t>
            </a:r>
          </a:p>
          <a:p>
            <a:pPr algn="l">
              <a:lnSpc>
                <a:spcPts val="3780"/>
              </a:lnSpc>
            </a:pP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Dissatisfaction Indicators: A positive ratio signals that a customer’s costs have risen relative to their historical norm, serving as a strong driver of churn.</a:t>
            </a:r>
          </a:p>
          <a:p>
            <a:pPr algn="l">
              <a:lnSpc>
                <a:spcPts val="3780"/>
              </a:lnSpc>
            </a:pP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Value Addition: These engineered features transform static billing data into dynamic indicators of customer behavior over time.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538606" y="4346529"/>
            <a:ext cx="11749394" cy="5940471"/>
          </a:xfrm>
          <a:custGeom>
            <a:avLst/>
            <a:gdLst/>
            <a:ahLst/>
            <a:cxnLst/>
            <a:rect r="r" b="b" t="t" l="l"/>
            <a:pathLst>
              <a:path h="5940471" w="11749394">
                <a:moveTo>
                  <a:pt x="0" y="0"/>
                </a:moveTo>
                <a:lnTo>
                  <a:pt x="11749394" y="0"/>
                </a:lnTo>
                <a:lnTo>
                  <a:pt x="11749394" y="5940471"/>
                </a:lnTo>
                <a:lnTo>
                  <a:pt x="0" y="59404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54" r="0" b="-7097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0786" y="537759"/>
            <a:ext cx="8324850" cy="4113957"/>
            <a:chOff x="0" y="0"/>
            <a:chExt cx="11099800" cy="548527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110998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D0D8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Data Scaling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215540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4F7DC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Normalization Techniques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272267"/>
              <a:ext cx="10455183" cy="22130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47"/>
                </a:lnSpc>
              </a:pPr>
              <a:r>
                <a:rPr lang="en-US" sz="2391">
                  <a:solidFill>
                    <a:srgbClr val="D0D8E6"/>
                  </a:solidFill>
                  <a:latin typeface="TT Fors"/>
                  <a:ea typeface="TT Fors"/>
                  <a:cs typeface="TT Fors"/>
                  <a:sym typeface="TT Fors"/>
                </a:rPr>
                <a:t>Z-score normalization significantly impacts model performance by standardizing feature distributions, enhancing the Gradient Boosting model's ability to predict customer churn effectively.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D0D8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Model Selection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4F7DC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Comparing Approaches for Predicting Customer Churn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66750"/>
            <a:ext cx="6886575" cy="3070860"/>
            <a:chOff x="0" y="0"/>
            <a:chExt cx="9182100" cy="40944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9182100" cy="2938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0D8E6"/>
                  </a:solidFill>
                  <a:latin typeface="TT Fors"/>
                  <a:ea typeface="TT Fors"/>
                  <a:cs typeface="TT Fors"/>
                  <a:sym typeface="TT Fors"/>
                </a:rPr>
                <a:t>Random Forest leverages bagging techniques to reduce variance, making it robust against overfitting while maintaining high predictive accuracy.</a:t>
              </a:r>
            </a:p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D0D8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HyperParams</a:t>
              </a:r>
              <a:r>
                <a:rPr lang="en-US" sz="2100">
                  <a:solidFill>
                    <a:srgbClr val="D0D8E6"/>
                  </a:solidFill>
                  <a:latin typeface="TT Fors"/>
                  <a:ea typeface="TT Fors"/>
                  <a:cs typeface="TT Fors"/>
                  <a:sym typeface="TT Fors"/>
                </a:rPr>
                <a:t> :</a:t>
              </a:r>
            </a:p>
            <a:p>
              <a:pPr algn="l" marL="453390" indent="-226695" lvl="1">
                <a:lnSpc>
                  <a:spcPts val="29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>
                  <a:solidFill>
                    <a:srgbClr val="D0D8E6"/>
                  </a:solidFill>
                  <a:latin typeface="TT Fors"/>
                  <a:ea typeface="TT Fors"/>
                  <a:cs typeface="TT Fors"/>
                  <a:sym typeface="TT Fors"/>
                </a:rPr>
                <a:t>MaxDepth = 10</a:t>
              </a:r>
            </a:p>
            <a:p>
              <a:pPr algn="l">
                <a:lnSpc>
                  <a:spcPts val="2940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0D8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Random Forest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3608070"/>
            <a:ext cx="6886575" cy="3070860"/>
            <a:chOff x="0" y="0"/>
            <a:chExt cx="9182100" cy="40944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2938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0D8E6"/>
                  </a:solidFill>
                  <a:latin typeface="TT Fors"/>
                  <a:ea typeface="TT Fors"/>
                  <a:cs typeface="TT Fors"/>
                  <a:sym typeface="TT Fors"/>
                </a:rPr>
                <a:t>Gradient Boosting employs boosting methods to minimize bias, enhancing predictive performance by sequentially correcting errors from previous models.</a:t>
              </a:r>
            </a:p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D0D8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HyperParams</a:t>
              </a:r>
              <a:r>
                <a:rPr lang="en-US" sz="2100">
                  <a:solidFill>
                    <a:srgbClr val="D0D8E6"/>
                  </a:solidFill>
                  <a:latin typeface="TT Fors"/>
                  <a:ea typeface="TT Fors"/>
                  <a:cs typeface="TT Fors"/>
                  <a:sym typeface="TT Fors"/>
                </a:rPr>
                <a:t> :</a:t>
              </a:r>
            </a:p>
            <a:p>
              <a:pPr algn="l" marL="453390" indent="-226695" lvl="1">
                <a:lnSpc>
                  <a:spcPts val="29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>
                  <a:solidFill>
                    <a:srgbClr val="D0D8E6"/>
                  </a:solidFill>
                  <a:latin typeface="TT Fors"/>
                  <a:ea typeface="TT Fors"/>
                  <a:cs typeface="TT Fors"/>
                  <a:sym typeface="TT Fors"/>
                </a:rPr>
                <a:t>MaxDepth = 3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D0D8E6"/>
                  </a:solidFill>
                  <a:latin typeface="TT Fors"/>
                  <a:ea typeface="TT Fors"/>
                  <a:cs typeface="TT Fors"/>
                  <a:sym typeface="TT Fors"/>
                </a:rPr>
                <a:t>Learning rate = 0.1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0D8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Gradient Boosting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6938010"/>
            <a:ext cx="6886575" cy="1956435"/>
            <a:chOff x="0" y="0"/>
            <a:chExt cx="9182100" cy="26085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15570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D0D8E6"/>
                  </a:solidFill>
                  <a:latin typeface="TT Fors"/>
                  <a:ea typeface="TT Fors"/>
                  <a:cs typeface="TT Fors"/>
                  <a:sym typeface="TT Fors"/>
                </a:rPr>
                <a:t>Both models offer unique strengths; Random Forest excels in handling noise, while Gradient Boosting is more sensitive to underlying patterns.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D0D8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Strengths Comparison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815850" cy="1060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5850" cy="1060718"/>
            </a:xfrm>
            <a:custGeom>
              <a:avLst/>
              <a:gdLst/>
              <a:ahLst/>
              <a:cxnLst/>
              <a:rect r="r" b="b" t="t" l="l"/>
              <a:pathLst>
                <a:path h="1060718" w="815850">
                  <a:moveTo>
                    <a:pt x="0" y="0"/>
                  </a:moveTo>
                  <a:lnTo>
                    <a:pt x="815850" y="0"/>
                  </a:lnTo>
                  <a:lnTo>
                    <a:pt x="815850" y="1060718"/>
                  </a:lnTo>
                  <a:lnTo>
                    <a:pt x="0" y="1060718"/>
                  </a:ln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9400324"/>
            <a:chOff x="0" y="0"/>
            <a:chExt cx="11099800" cy="125337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8121354" cy="2168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53"/>
                </a:lnSpc>
                <a:spcBef>
                  <a:spcPct val="0"/>
                </a:spcBef>
              </a:pPr>
              <a:r>
                <a:rPr lang="en-US" sz="5853" spc="-175" strike="noStrike" u="none">
                  <a:solidFill>
                    <a:srgbClr val="D0D8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Smart Penalty Ensemble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289311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4F7DC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Hybrid Model Overview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156086"/>
              <a:ext cx="9182100" cy="9377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b="true" sz="2100">
                  <a:solidFill>
                    <a:srgbClr val="D0D8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Beyond Standard Voting</a:t>
              </a:r>
              <a:r>
                <a:rPr lang="en-US" sz="2100">
                  <a:solidFill>
                    <a:srgbClr val="D0D8E6"/>
                  </a:solidFill>
                  <a:latin typeface="TT Fors"/>
                  <a:ea typeface="TT Fors"/>
                  <a:cs typeface="TT Fors"/>
                  <a:sym typeface="TT Fors"/>
                </a:rPr>
                <a:t>: Instead of relying on simple majority rules, a custom hybrid ensemble was engineered to integrate model-specific strengths.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b="true" sz="2100">
                  <a:solidFill>
                    <a:srgbClr val="D0D8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Dual-Role Logic:</a:t>
              </a:r>
            </a:p>
            <a:p>
              <a:pPr algn="l" marL="906780" indent="-302260" lvl="2">
                <a:lnSpc>
                  <a:spcPts val="2940"/>
                </a:lnSpc>
                <a:buFont typeface="Arial"/>
                <a:buChar char="⚬"/>
              </a:pPr>
              <a:r>
                <a:rPr lang="en-US" sz="2100">
                  <a:solidFill>
                    <a:srgbClr val="D0D8E6"/>
                  </a:solidFill>
                  <a:latin typeface="TT Fors"/>
                  <a:ea typeface="TT Fors"/>
                  <a:cs typeface="TT Fors"/>
                  <a:sym typeface="TT Fors"/>
                </a:rPr>
                <a:t>Random Forest as the "Hunter": Acts as a high-sensitivity component designed to catch as many potential churners as possible.</a:t>
              </a:r>
            </a:p>
            <a:p>
              <a:pPr algn="l" marL="906780" indent="-302260" lvl="2">
                <a:lnSpc>
                  <a:spcPts val="2940"/>
                </a:lnSpc>
                <a:buFont typeface="Arial"/>
                <a:buChar char="⚬"/>
              </a:pPr>
              <a:r>
                <a:rPr lang="en-US" sz="2100">
                  <a:solidFill>
                    <a:srgbClr val="D0D8E6"/>
                  </a:solidFill>
                  <a:latin typeface="TT Fors"/>
                  <a:ea typeface="TT Fors"/>
                  <a:cs typeface="TT Fors"/>
                  <a:sym typeface="TT Fors"/>
                </a:rPr>
                <a:t>Gradient Boosting as the "Precision Filter": Serves as a secondary check to validate the "Hunter's" findings.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b="true" sz="2100">
                  <a:solidFill>
                    <a:srgbClr val="D0D8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Dynamic Penalty Mechanism:</a:t>
              </a:r>
              <a:r>
                <a:rPr lang="en-US" sz="2100">
                  <a:solidFill>
                    <a:srgbClr val="D0D8E6"/>
                  </a:solidFill>
                  <a:latin typeface="TT Fors"/>
                  <a:ea typeface="TT Fors"/>
                  <a:cs typeface="TT Fors"/>
                  <a:sym typeface="TT Fors"/>
                </a:rPr>
                <a:t> If Random Forest predicts churn but Gradient Boosting assigns a very low probability, a penalty is applied to suppress the false alarm.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b="true" sz="2100">
                  <a:solidFill>
                    <a:srgbClr val="D0D8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Operational Goal:</a:t>
              </a:r>
              <a:r>
                <a:rPr lang="en-US" sz="2100">
                  <a:solidFill>
                    <a:srgbClr val="D0D8E6"/>
                  </a:solidFill>
                  <a:latin typeface="TT Fors"/>
                  <a:ea typeface="TT Fors"/>
                  <a:cs typeface="TT Fors"/>
                  <a:sym typeface="TT Fors"/>
                </a:rPr>
                <a:t> This architecture allows the system to retain the high recall required for business safety while effectively controlling the false-positive rate.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1366" y="3234246"/>
            <a:ext cx="16835005" cy="6250724"/>
            <a:chOff x="0" y="0"/>
            <a:chExt cx="22446674" cy="833429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3264574" y="7376719"/>
              <a:ext cx="91821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i="true" strike="noStrike" u="none">
                  <a:solidFill>
                    <a:srgbClr val="7C7CFA"/>
                  </a:solidFill>
                  <a:latin typeface="TT Fors Italics"/>
                  <a:ea typeface="TT Fors Italics"/>
                  <a:cs typeface="TT Fors Italics"/>
                  <a:sym typeface="TT Fors Italics"/>
                </a:rPr>
                <a:t>Lowering the threshold enhances recall, vital for minimizing churn losses.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42875"/>
              <a:ext cx="9182100" cy="8718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39"/>
                </a:lnSpc>
                <a:spcBef>
                  <a:spcPct val="0"/>
                </a:spcBef>
              </a:pPr>
              <a:r>
                <a:rPr lang="en-US" sz="3599" spc="-107">
                  <a:solidFill>
                    <a:srgbClr val="4F7DC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0.3 rule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657225"/>
            <a:ext cx="6886575" cy="223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D0D8E6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Risk-Aware Evaluation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28411" y="4468445"/>
            <a:ext cx="18059589" cy="1954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0847" indent="-240424" lvl="1">
              <a:lnSpc>
                <a:spcPts val="3118"/>
              </a:lnSpc>
              <a:buFont typeface="Arial"/>
              <a:buChar char="•"/>
            </a:pPr>
            <a:r>
              <a:rPr lang="en-US" sz="222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Sub-optimal defaults in churn prediction can lead to ineffective outcomes due to equal error treatment.</a:t>
            </a:r>
          </a:p>
          <a:p>
            <a:pPr algn="l">
              <a:lnSpc>
                <a:spcPts val="3118"/>
              </a:lnSpc>
            </a:pPr>
          </a:p>
          <a:p>
            <a:pPr algn="l" marL="480847" indent="-240424" lvl="1">
              <a:lnSpc>
                <a:spcPts val="3118"/>
              </a:lnSpc>
              <a:buFont typeface="Arial"/>
              <a:buChar char="•"/>
            </a:pPr>
            <a:r>
              <a:rPr lang="en-US" sz="222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telecommunications, losing a customer is costlier than providing a minor retention incentive.</a:t>
            </a:r>
          </a:p>
          <a:p>
            <a:pPr algn="l">
              <a:lnSpc>
                <a:spcPts val="3118"/>
              </a:lnSpc>
            </a:pPr>
          </a:p>
          <a:p>
            <a:pPr algn="l" marL="480847" indent="-240424" lvl="1">
              <a:lnSpc>
                <a:spcPts val="3118"/>
              </a:lnSpc>
              <a:buFont typeface="Arial"/>
              <a:buChar char="•"/>
            </a:pPr>
            <a:r>
              <a:rPr lang="en-US" sz="222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Lowering the classification threshold enhances model sensitivity, helping marketing identify most at-risk individuals.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459055" y="2966793"/>
            <a:ext cx="10508457" cy="2278057"/>
          </a:xfrm>
          <a:custGeom>
            <a:avLst/>
            <a:gdLst/>
            <a:ahLst/>
            <a:cxnLst/>
            <a:rect r="r" b="b" t="t" l="l"/>
            <a:pathLst>
              <a:path h="2278057" w="10508457">
                <a:moveTo>
                  <a:pt x="0" y="0"/>
                </a:moveTo>
                <a:lnTo>
                  <a:pt x="10508457" y="0"/>
                </a:lnTo>
                <a:lnTo>
                  <a:pt x="10508457" y="2278057"/>
                </a:lnTo>
                <a:lnTo>
                  <a:pt x="0" y="22780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66750" y="666750"/>
            <a:ext cx="11201400" cy="2162175"/>
            <a:chOff x="0" y="0"/>
            <a:chExt cx="14935200" cy="28829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D0D8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Random Forest Results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2352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D0D8E6"/>
                  </a:solidFill>
                  <a:latin typeface="TT Fors"/>
                  <a:ea typeface="TT Fors"/>
                  <a:cs typeface="TT Fors"/>
                  <a:sym typeface="TT Fors"/>
                </a:rPr>
                <a:t>Performance Metrics Overview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0" y="5768348"/>
            <a:ext cx="18288000" cy="3489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4421" indent="-267210" lvl="1">
              <a:lnSpc>
                <a:spcPts val="3465"/>
              </a:lnSpc>
              <a:buFont typeface="Arial"/>
              <a:buChar char="•"/>
            </a:pPr>
            <a:r>
              <a:rPr lang="en-US" b="true" sz="2475">
                <a:solidFill>
                  <a:srgbClr val="D0D8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Metrics (at 0.3 Threshold):</a:t>
            </a:r>
          </a:p>
          <a:p>
            <a:pPr algn="just" marL="534421" indent="-267210" lvl="1">
              <a:lnSpc>
                <a:spcPts val="3465"/>
              </a:lnSpc>
              <a:buFont typeface="Arial"/>
              <a:buChar char="•"/>
            </a:pPr>
            <a:r>
              <a:rPr lang="en-US" sz="2475">
                <a:solidFill>
                  <a:srgbClr val="D0D8E6"/>
                </a:solidFill>
                <a:latin typeface="Canva Sans"/>
                <a:ea typeface="Canva Sans"/>
                <a:cs typeface="Canva Sans"/>
                <a:sym typeface="Canva Sans"/>
              </a:rPr>
              <a:t>Recall (Churn): 0.89 – Successfully identified 89% of all actual churners.</a:t>
            </a:r>
          </a:p>
          <a:p>
            <a:pPr algn="just" marL="534421" indent="-267210" lvl="1">
              <a:lnSpc>
                <a:spcPts val="3465"/>
              </a:lnSpc>
              <a:buFont typeface="Arial"/>
              <a:buChar char="•"/>
            </a:pPr>
            <a:r>
              <a:rPr lang="en-US" sz="2475">
                <a:solidFill>
                  <a:srgbClr val="D0D8E6"/>
                </a:solidFill>
                <a:latin typeface="Canva Sans"/>
                <a:ea typeface="Canva Sans"/>
                <a:cs typeface="Canva Sans"/>
                <a:sym typeface="Canva Sans"/>
              </a:rPr>
              <a:t>Precision (Churn): 0.47 – Reflects a “bold” prediction strategy where sensitivity is prioritized over error suppression.</a:t>
            </a:r>
          </a:p>
          <a:p>
            <a:pPr algn="just" marL="534421" indent="-267210" lvl="1">
              <a:lnSpc>
                <a:spcPts val="3465"/>
              </a:lnSpc>
              <a:buFont typeface="Arial"/>
              <a:buChar char="•"/>
            </a:pPr>
            <a:r>
              <a:rPr lang="en-US" sz="2475">
                <a:solidFill>
                  <a:srgbClr val="D0D8E6"/>
                </a:solidFill>
                <a:latin typeface="Canva Sans"/>
                <a:ea typeface="Canva Sans"/>
                <a:cs typeface="Canva Sans"/>
                <a:sym typeface="Canva Sans"/>
              </a:rPr>
              <a:t>Overall Accuracy: 0.71.</a:t>
            </a:r>
          </a:p>
          <a:p>
            <a:pPr algn="just" marL="534421" indent="-267210" lvl="1">
              <a:lnSpc>
                <a:spcPts val="3465"/>
              </a:lnSpc>
              <a:buFont typeface="Arial"/>
              <a:buChar char="•"/>
            </a:pPr>
            <a:r>
              <a:rPr lang="en-US" sz="2475">
                <a:solidFill>
                  <a:srgbClr val="D0D8E6"/>
                </a:solidFill>
                <a:latin typeface="Canva Sans"/>
                <a:ea typeface="Canva Sans"/>
                <a:cs typeface="Canva Sans"/>
                <a:sym typeface="Canva Sans"/>
              </a:rPr>
              <a:t>Technical Outcome: By leveraging parallel trees and variance reduction, the model captured a wide variety of churn signals but produced 372 False Positives.</a:t>
            </a:r>
          </a:p>
          <a:p>
            <a:pPr algn="just">
              <a:lnSpc>
                <a:spcPts val="3465"/>
              </a:lnSpc>
            </a:pPr>
            <a:r>
              <a:rPr lang="en-US" sz="2475">
                <a:solidFill>
                  <a:srgbClr val="D0D8E6"/>
                </a:solidFill>
                <a:latin typeface="Canva Sans"/>
                <a:ea typeface="Canva Sans"/>
                <a:cs typeface="Canva Sans"/>
                <a:sym typeface="Canva Sans"/>
              </a:rPr>
              <a:t>Business Value: Provides the necessary coverage for an aggressive early-warning system, ensuring very few at-risk customers are missed.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475179" y="2225095"/>
            <a:ext cx="10508457" cy="2278057"/>
          </a:xfrm>
          <a:custGeom>
            <a:avLst/>
            <a:gdLst/>
            <a:ahLst/>
            <a:cxnLst/>
            <a:rect r="r" b="b" t="t" l="l"/>
            <a:pathLst>
              <a:path h="2278057" w="10508457">
                <a:moveTo>
                  <a:pt x="0" y="0"/>
                </a:moveTo>
                <a:lnTo>
                  <a:pt x="10508457" y="0"/>
                </a:lnTo>
                <a:lnTo>
                  <a:pt x="10508457" y="2278057"/>
                </a:lnTo>
                <a:lnTo>
                  <a:pt x="0" y="22780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66750" y="666750"/>
            <a:ext cx="11201400" cy="3171825"/>
            <a:chOff x="0" y="0"/>
            <a:chExt cx="14935200" cy="42291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149352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D0D8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Results of Gradient Boosting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581400"/>
              <a:ext cx="130175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D0D8E6"/>
                  </a:solidFill>
                  <a:latin typeface="TT Fors"/>
                  <a:ea typeface="TT Fors"/>
                  <a:cs typeface="TT Fors"/>
                  <a:sym typeface="TT Fors"/>
                </a:rPr>
                <a:t>Performance Metrics Overview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0" y="4819967"/>
            <a:ext cx="18288000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</a:pPr>
            <a:r>
              <a:rPr lang="en-US" b="true" sz="3399">
                <a:solidFill>
                  <a:srgbClr val="D0D8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Performance Metrics (0.3 Threshold):</a:t>
            </a:r>
          </a:p>
          <a:p>
            <a:pPr algn="ctr" marL="0" indent="0" lvl="0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D0D8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Recall</a:t>
            </a:r>
            <a:r>
              <a:rPr lang="en-US" sz="3399">
                <a:solidFill>
                  <a:srgbClr val="D0D8E6"/>
                </a:solidFill>
                <a:latin typeface="Canva Sans"/>
                <a:ea typeface="Canva Sans"/>
                <a:cs typeface="Canva Sans"/>
                <a:sym typeface="Canva Sans"/>
              </a:rPr>
              <a:t>: 0.77 – Maintained high sensitivity.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D0D8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Precision</a:t>
            </a:r>
            <a:r>
              <a:rPr lang="en-US" sz="3399">
                <a:solidFill>
                  <a:srgbClr val="D0D8E6"/>
                </a:solidFill>
                <a:latin typeface="Canva Sans"/>
                <a:ea typeface="Canva Sans"/>
                <a:cs typeface="Canva Sans"/>
                <a:sym typeface="Canva Sans"/>
              </a:rPr>
              <a:t>: 0.53 – Superior ability to minimize false alarms.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D0D8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Accuracy</a:t>
            </a:r>
            <a:r>
              <a:rPr lang="en-US" sz="3399">
                <a:solidFill>
                  <a:srgbClr val="D0D8E6"/>
                </a:solidFill>
                <a:latin typeface="Canva Sans"/>
                <a:ea typeface="Canva Sans"/>
                <a:cs typeface="Canva Sans"/>
                <a:sym typeface="Canva Sans"/>
              </a:rPr>
              <a:t>: 0.76 – Highest individual accuracy.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D0D8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Technical Outcome</a:t>
            </a:r>
            <a:r>
              <a:rPr lang="en-US" sz="3399">
                <a:solidFill>
                  <a:srgbClr val="D0D8E6"/>
                </a:solidFill>
                <a:latin typeface="Canva Sans"/>
                <a:ea typeface="Canva Sans"/>
                <a:cs typeface="Canva Sans"/>
                <a:sym typeface="Canva Sans"/>
              </a:rPr>
              <a:t>: Effectively reduced bias, making the model more selective about flagging at-risk customers.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D0D8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Value</a:t>
            </a:r>
            <a:r>
              <a:rPr lang="en-US" sz="3399">
                <a:solidFill>
                  <a:srgbClr val="D0D8E6"/>
                </a:solidFill>
                <a:latin typeface="Canva Sans"/>
                <a:ea typeface="Canva Sans"/>
                <a:cs typeface="Canva Sans"/>
                <a:sym typeface="Canva Sans"/>
              </a:rPr>
              <a:t>: Ensures retention resources are targeted toward customers with a high statistical probability of leaving.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815850" cy="1060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5850" cy="1060718"/>
            </a:xfrm>
            <a:custGeom>
              <a:avLst/>
              <a:gdLst/>
              <a:ahLst/>
              <a:cxnLst/>
              <a:rect r="r" b="b" t="t" l="l"/>
              <a:pathLst>
                <a:path h="1060718" w="815850">
                  <a:moveTo>
                    <a:pt x="0" y="0"/>
                  </a:moveTo>
                  <a:lnTo>
                    <a:pt x="815850" y="0"/>
                  </a:lnTo>
                  <a:lnTo>
                    <a:pt x="815850" y="1060718"/>
                  </a:lnTo>
                  <a:lnTo>
                    <a:pt x="0" y="1060718"/>
                  </a:ln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8816" y="6563962"/>
            <a:ext cx="10368167" cy="3056288"/>
          </a:xfrm>
          <a:custGeom>
            <a:avLst/>
            <a:gdLst/>
            <a:ahLst/>
            <a:cxnLst/>
            <a:rect r="r" b="b" t="t" l="l"/>
            <a:pathLst>
              <a:path h="3056288" w="10368167">
                <a:moveTo>
                  <a:pt x="0" y="0"/>
                </a:moveTo>
                <a:lnTo>
                  <a:pt x="10368168" y="0"/>
                </a:lnTo>
                <a:lnTo>
                  <a:pt x="10368168" y="3056288"/>
                </a:lnTo>
                <a:lnTo>
                  <a:pt x="0" y="3056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66750" y="666750"/>
            <a:ext cx="8324850" cy="5765800"/>
            <a:chOff x="0" y="0"/>
            <a:chExt cx="11099800" cy="768773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D0D8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Results – Voting Ensemble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51472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4F7DC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Combined Model Performance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4813300"/>
              <a:ext cx="9182100" cy="2874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D0D8E6"/>
                  </a:solidFill>
                  <a:latin typeface="TT Fors"/>
                  <a:ea typeface="TT Fors"/>
                  <a:cs typeface="TT Fors"/>
                  <a:sym typeface="TT Fors"/>
                </a:rPr>
                <a:t>The voting ensemble demonstrates improved </a:t>
              </a:r>
              <a:r>
                <a:rPr lang="en-US" b="true" sz="2499">
                  <a:solidFill>
                    <a:srgbClr val="D0D8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balance in metrics</a:t>
              </a:r>
              <a:r>
                <a:rPr lang="en-US" sz="2499">
                  <a:solidFill>
                    <a:srgbClr val="D0D8E6"/>
                  </a:solidFill>
                  <a:latin typeface="TT Fors"/>
                  <a:ea typeface="TT Fors"/>
                  <a:cs typeface="TT Fors"/>
                  <a:sym typeface="TT Fors"/>
                </a:rPr>
                <a:t>, with a balanced recall of 0.84 and accuracy of 0.74, significantly enhancing prediction capabilities for customer churn.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91332" y="102414"/>
            <a:ext cx="7527137" cy="4526361"/>
            <a:chOff x="0" y="0"/>
            <a:chExt cx="741225" cy="4457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1225" cy="445727"/>
            </a:xfrm>
            <a:custGeom>
              <a:avLst/>
              <a:gdLst/>
              <a:ahLst/>
              <a:cxnLst/>
              <a:rect r="r" b="b" t="t" l="l"/>
              <a:pathLst>
                <a:path h="445727" w="741225">
                  <a:moveTo>
                    <a:pt x="0" y="0"/>
                  </a:moveTo>
                  <a:lnTo>
                    <a:pt x="741225" y="0"/>
                  </a:lnTo>
                  <a:lnTo>
                    <a:pt x="741225" y="445727"/>
                  </a:lnTo>
                  <a:lnTo>
                    <a:pt x="0" y="445727"/>
                  </a:lnTo>
                  <a:close/>
                </a:path>
              </a:pathLst>
            </a:custGeom>
            <a:blipFill>
              <a:blip r:embed="rId2"/>
              <a:stretch>
                <a:fillRect l="-4397" t="0" r="-439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93930" y="4862916"/>
            <a:ext cx="7424539" cy="5268034"/>
            <a:chOff x="0" y="0"/>
            <a:chExt cx="815850" cy="5788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5850" cy="578881"/>
            </a:xfrm>
            <a:custGeom>
              <a:avLst/>
              <a:gdLst/>
              <a:ahLst/>
              <a:cxnLst/>
              <a:rect r="r" b="b" t="t" l="l"/>
              <a:pathLst>
                <a:path h="578881" w="815850">
                  <a:moveTo>
                    <a:pt x="0" y="0"/>
                  </a:moveTo>
                  <a:lnTo>
                    <a:pt x="815850" y="0"/>
                  </a:lnTo>
                  <a:lnTo>
                    <a:pt x="815850" y="578881"/>
                  </a:lnTo>
                  <a:lnTo>
                    <a:pt x="0" y="578881"/>
                  </a:lnTo>
                  <a:close/>
                </a:path>
              </a:pathLst>
            </a:custGeom>
            <a:blipFill>
              <a:blip r:embed="rId3"/>
              <a:stretch>
                <a:fillRect l="-14185" t="0" r="-1418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6750" y="666750"/>
            <a:ext cx="8324850" cy="9528810"/>
            <a:chOff x="0" y="0"/>
            <a:chExt cx="11099800" cy="1270508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D0D8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Model Stability Analysis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51472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4F7DC1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Evaluating Learning Curves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813300"/>
              <a:ext cx="9182100" cy="7891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b="true" sz="2100">
                  <a:solidFill>
                    <a:srgbClr val="D0D8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Convergence Success</a:t>
              </a:r>
              <a:r>
                <a:rPr lang="en-US" sz="2100">
                  <a:solidFill>
                    <a:srgbClr val="D0D8E6"/>
                  </a:solidFill>
                  <a:latin typeface="TT Fors"/>
                  <a:ea typeface="TT Fors"/>
                  <a:cs typeface="TT Fors"/>
                  <a:sym typeface="TT Fors"/>
                </a:rPr>
                <a:t>: The learning curves for both models show training and validation scores converging as the number of training examples increases.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b="true" sz="2100">
                  <a:solidFill>
                    <a:srgbClr val="D0D8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No Overfitting</a:t>
              </a:r>
              <a:r>
                <a:rPr lang="en-US" sz="2100">
                  <a:solidFill>
                    <a:srgbClr val="D0D8E6"/>
                  </a:solidFill>
                  <a:latin typeface="TT Fors"/>
                  <a:ea typeface="TT Fors"/>
                  <a:cs typeface="TT Fors"/>
                  <a:sym typeface="TT Fors"/>
                </a:rPr>
                <a:t>: The small gap between training and validation performance confirms that the models effectively generalize to new data rather than memorizing the training set.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b="true" sz="2100">
                  <a:solidFill>
                    <a:srgbClr val="D0D8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Data Utilization</a:t>
              </a:r>
              <a:r>
                <a:rPr lang="en-US" sz="2100">
                  <a:solidFill>
                    <a:srgbClr val="D0D8E6"/>
                  </a:solidFill>
                  <a:latin typeface="TT Fors"/>
                  <a:ea typeface="TT Fors"/>
                  <a:cs typeface="TT Fors"/>
                  <a:sym typeface="TT Fors"/>
                </a:rPr>
                <a:t>: The plateau in the curves indicates that the models have successfully utilized the available dataset to reach their optimal predictive capacity.</a:t>
              </a:r>
            </a:p>
            <a:p>
              <a:pPr algn="just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b="true" sz="2100">
                  <a:solidFill>
                    <a:srgbClr val="D0D8E6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Reliability:</a:t>
              </a:r>
              <a:r>
                <a:rPr lang="en-US" sz="2100">
                  <a:solidFill>
                    <a:srgbClr val="D0D8E6"/>
                  </a:solidFill>
                  <a:latin typeface="TT Fors"/>
                  <a:ea typeface="TT Fors"/>
                  <a:cs typeface="TT Fors"/>
                  <a:sym typeface="TT Fors"/>
                </a:rPr>
                <a:t> This stability ensures that the "Hunter" and "Filter" logic is based on robust behavioral patterns, like spending spikes, rather than statistical noise.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32942" y="1463089"/>
            <a:ext cx="15436165" cy="8542148"/>
          </a:xfrm>
          <a:custGeom>
            <a:avLst/>
            <a:gdLst/>
            <a:ahLst/>
            <a:cxnLst/>
            <a:rect r="r" b="b" t="t" l="l"/>
            <a:pathLst>
              <a:path h="8542148" w="15436165">
                <a:moveTo>
                  <a:pt x="0" y="0"/>
                </a:moveTo>
                <a:lnTo>
                  <a:pt x="15436164" y="0"/>
                </a:lnTo>
                <a:lnTo>
                  <a:pt x="15436164" y="8542149"/>
                </a:lnTo>
                <a:lnTo>
                  <a:pt x="0" y="8542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6354" y="325113"/>
            <a:ext cx="1043071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99"/>
              </a:lnSpc>
              <a:spcBef>
                <a:spcPct val="0"/>
              </a:spcBef>
            </a:pPr>
            <a:r>
              <a:rPr lang="en-US" sz="4499" spc="-134" strike="noStrike" u="none">
                <a:solidFill>
                  <a:srgbClr val="4F7DC1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Confusion Matrixes and Roc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0"/>
            <a:ext cx="7858125" cy="10287000"/>
            <a:chOff x="0" y="0"/>
            <a:chExt cx="1764443" cy="23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4443" cy="2309817"/>
            </a:xfrm>
            <a:custGeom>
              <a:avLst/>
              <a:gdLst/>
              <a:ahLst/>
              <a:cxnLst/>
              <a:rect r="r" b="b" t="t" l="l"/>
              <a:pathLst>
                <a:path h="2309817" w="1764443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2"/>
              <a:stretch>
                <a:fillRect l="0" t="-255" r="0" b="-2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3657600"/>
            <a:chOff x="0" y="0"/>
            <a:chExt cx="11099800" cy="48768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0998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D0D8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Any questions for us?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14725"/>
              <a:ext cx="11068284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D0D8E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Thank you for your attention and engagement today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Telco Customer Churn Prediction</dc:description>
  <dc:identifier>DAHAZaEAT1E</dc:identifier>
  <dcterms:modified xsi:type="dcterms:W3CDTF">2011-08-01T06:04:30Z</dcterms:modified>
  <cp:revision>1</cp:revision>
  <dc:title>Presentation - Telco Customer Churn Prediction</dc:title>
</cp:coreProperties>
</file>